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e727e15-b646-c95a-c1fa-8fcc332eda6d}">
          <p14:sldIdLst>
            <p14:sldId id="256"/>
            <p14:sldId id="257"/>
          </p14:sldIdLst>
        </p14:section>
        <p14:section name="The client" id="{0d049fef-8f75-e748-14bf-39cb05dcbc6e}">
          <p14:sldIdLst>
            <p14:sldId id="258"/>
            <p14:sldId id="259"/>
            <p14:sldId id="260"/>
            <p14:sldId id="261"/>
          </p14:sldIdLst>
        </p14:section>
        <p14:section name="Approach" id="{b46e6495-e91c-8ead-ef70-6e1ea3300c24}">
          <p14:sldIdLst>
            <p14:sldId id="262"/>
            <p14:sldId id="263"/>
            <p14:sldId id="264"/>
          </p14:sldIdLst>
        </p14:section>
        <p14:section name="Solution" id="{e5a4227b-7371-f8f2-97d4-d4f601bf44a0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Data" id="{5bb26a85-d1dd-68f4-f97d-7406e1ddfb95}">
          <p14:sldIdLst>
            <p14:sldId id="272"/>
            <p14:sldId id="273"/>
            <p14:sldId id="274"/>
          </p14:sldIdLst>
        </p14:section>
        <p14:section name="Delivery" id="{d129ecba-cbbd-51cf-21e0-1db6f6ee343a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9FB8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Month-end close (days)</c:v>
                  </c:pt>
                  <c:pt idx="1">
                    <c:v>DSO (days)</c:v>
                  </c:pt>
                  <c:pt idx="2">
                    <c:v>Stock-out rate (%)</c:v>
                  </c:pt>
                  <c:pt idx="3">
                    <c:v>Record accuracy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75</c:v>
                </c:pt>
                <c:pt idx="2">
                  <c:v>12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Month-end close (days)</c:v>
                  </c:pt>
                  <c:pt idx="1">
                    <c:v>DSO (days)</c:v>
                  </c:pt>
                  <c:pt idx="2">
                    <c:v>Stock-out rate (%)</c:v>
                  </c:pt>
                  <c:pt idx="3">
                    <c:v>Record accuracy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55</c:v>
                </c:pt>
                <c:pt idx="2">
                  <c:v>3</c:v>
                </c:pt>
                <c:pt idx="3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bubble3D val="0"/>
            <c:spPr>
              <a:solidFill>
                <a:srgbClr val="2E8B9A"/>
              </a:solidFill>
              <a:effectLst/>
            </c:spPr>
          </c:dPt>
          <c:dPt>
            <c:idx val="2"/>
            <c:bubble3D val="0"/>
            <c:spPr>
              <a:solidFill>
                <a:srgbClr val="E07A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Standard Odoo (51)</c:v>
                </c:pt>
                <c:pt idx="1">
                  <c:v>Workaround (8)</c:v>
                </c:pt>
                <c:pt idx="2">
                  <c:v>Customization (11)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</c:v>
                </c:pt>
                <c:pt idx="1">
                  <c:v>8</c:v>
                </c:pt>
                <c:pt idx="2">
                  <c:v>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EGP</c:v>
                </c:pt>
              </c:strCache>
            </c:strRef>
          </c:tx>
          <c:spPr>
            <a:solidFill>
              <a:srgbClr val="2E8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Components</c:v>
                  </c:pt>
                  <c:pt idx="1">
                    <c:v>Labour (40 min)</c:v>
                  </c:pt>
                  <c:pt idx="2">
                    <c:v>Total cost</c:v>
                  </c:pt>
                  <c:pt idx="3">
                    <c:v>Sales price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1583.25</c:v>
                </c:pt>
                <c:pt idx="1">
                  <c:v>150</c:v>
                </c:pt>
                <c:pt idx="2">
                  <c:v>1733.25</c:v>
                </c:pt>
                <c:pt idx="3">
                  <c:v>2250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EGP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Implementation services</c:v>
                  </c:pt>
                  <c:pt idx="1">
                    <c:v>Odoo subscription (year 1)</c:v>
                  </c:pt>
                  <c:pt idx="2">
                    <c:v>Total year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981750</c:v>
                </c:pt>
                <c:pt idx="1">
                  <c:v>241200</c:v>
                </c:pt>
                <c:pt idx="2">
                  <c:v>1222950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client. We act as the Odoo partner Khomasi ERP implementing Odoo 19 Enterprise for Beitak Smart, a home appliance importer, distributor and assembler. 13-week project ending with a go-live on the first day of the fiscal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the client, the problem, our approach, the solution, the data,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business lines in one company. That mix is why a single integrated system matters: the same product can be imported, assembled, transferred between warehouses and sold in the showroom.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pain point is numbered and carried through every document, from the BRD to the test cases, so nothing gets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objective has a measurable KPI with a baseline and a target, so the client can judge the project after go-live rather than on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moves to the next phase without a signed deliverable. Go-live is deliberately on the first day of the fiscal year so opening balances are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documents build on each other: pain points in the BRD become requirements, requirements become rows in the RTM, the RTM drives the SSD design and the UAT test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database means a receipt in Alexandria, an assembly order in Cairo and a showroom sale all post to the same accounts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was not a target we aimed at; it is the result of designing standard first. We only customized where Egyptian practice or the client's control needs required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biggest money issue we solved. Without landed costs the company was pricing from a cost that was roughly 10% too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Scrap and real consumption are recorded on the work order, so the cost follows what actually happened on the line, not the theoretical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control was the change the Finance Manager asked for most: the warning is standard Odoo, the hard block is one of our customizations.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 drops from fifteen days to five because nothing is re-keyed: the entries are already there, the accountant reviews and 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 files were built before configuration, not after. That is why the opening balances tie out to the cent and why go-live is a load, not a rescue.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answer to shared logins. Every user is created from an employee record, so when someone leaves HR and IT act on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 / no-go is a real gate: all Must test cases passed, no severity-1 defect open, and all fourteen validation checks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10% is paid at go-live and 5% after hypercare, so the client holds leverage until the system actually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ran this again, the one thing we would keep above everything else is building the data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live demo and inviting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7404F"/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822960" y="173736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E07A3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200" kern="0" dirty="0">
                <a:solidFill>
                  <a:srgbClr val="E07A3F"/>
                </a:solidFill>
              </a:rPr>
              <a:t> </a:t>
            </a:r>
            <a:endParaRPr lang="en-US" sz="1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822960" y="214884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22960" y="342900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7DBE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E07A3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 </a:t>
            </a: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 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7DBE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4E5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i="1" dirty="0">
                <a:solidFill>
                  <a:srgbClr val="5A6B7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</a:rPr>
              <a:t>Khomasi ERP  |  Smart Core  |  DEPI Graduation Project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92354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</a:rPr>
              <a:t>Beitak Smart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4E5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i="1" dirty="0">
                <a:solidFill>
                  <a:srgbClr val="5A6B7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chart" hasCustomPrompt="1"/>
          </p:nvPr>
        </p:nvSpPr>
        <p:spPr>
          <a:xfrm>
            <a:off x="548640" y="1645920"/>
            <a:ext cx="6492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16262E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16262E"/>
                </a:solidFill>
              </a:rPr>
              <a:t> </a:t>
            </a:r>
            <a:endParaRPr lang="en-US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2"/>
                </a:solidFill>
              </a:rPr>
              <a:t>Khomasi ERP  |  Smart Core  |  DEPI Graduation Project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923544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</a:rPr>
              <a:t>Beitak Smart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 </a:t>
            </a: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34747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7DBE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7DBE2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822960" y="173736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E07A3F"/>
                </a:solidFill>
              </a:rPr>
              <a:t>DEPI graduation project  |  Odoo consultant track</a:t>
            </a:r>
            <a:endParaRPr lang="en-US" sz="1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822960" y="214884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Smart Core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22960" y="342900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Odoo 19 Enterprise implementation for Beitak Smart
</a:t>
            </a:r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Home appliances: import, distribution, showroom retail and in-house assembly</a:t>
            </a:r>
            <a:endParaRPr lang="en-US" sz="1500" dirty="0"/>
          </a:p>
        </p:txBody>
      </p:sp>
      <p:sp>
        <p:nvSpPr>
          <p:cNvPr id="5" name="card1"/>
          <p:cNvSpPr/>
          <p:nvPr/>
        </p:nvSpPr>
        <p:spPr>
          <a:xfrm>
            <a:off x="8321040" y="1691640"/>
            <a:ext cx="3383280" cy="3794760"/>
          </a:xfrm>
          <a:prstGeom prst="roundRect">
            <a:avLst>
              <a:gd name="adj" fmla="val 2162"/>
            </a:avLst>
          </a:prstGeom>
          <a:solidFill>
            <a:srgbClr val="0F3341"/>
          </a:solidFill>
          <a:ln w="12700">
            <a:solidFill>
              <a:srgbClr val="2A5C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</a:rPr>
              <a:t>Presented by Khomasi ERP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23774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7E6EB"/>
                </a:solidFill>
              </a:rPr>
              <a:t>Ahmed Fahmy — Project Manager &amp; Manufacturing
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7E6EB"/>
                </a:solidFill>
              </a:rPr>
              <a:t>Lobna Zanaty — Accounting
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7E6EB"/>
                </a:solidFill>
              </a:rPr>
              <a:t>Mayada Salah — Inventory
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7E6EB"/>
                </a:solidFill>
              </a:rPr>
              <a:t>Noha Gamal — Sales, CRM &amp; POS
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7E6EB"/>
                </a:solidFill>
              </a:rPr>
              <a:t>Omar ElSayed — HR, Purchase &amp; Technical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Go-live  1 January 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What we will cover</a:t>
            </a:r>
            <a:endParaRPr lang="en-US" sz="3000" dirty="0"/>
          </a:p>
        </p:txBody>
      </p:sp>
      <p:sp>
        <p:nvSpPr>
          <p:cNvPr id="3" name="card2"/>
          <p:cNvSpPr/>
          <p:nvPr/>
        </p:nvSpPr>
        <p:spPr>
          <a:xfrm>
            <a:off x="54864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50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The client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Who Beitak Smart is and how it works today</a:t>
            </a:r>
            <a:endParaRPr lang="en-US" sz="1200" dirty="0"/>
          </a:p>
        </p:txBody>
      </p:sp>
      <p:sp>
        <p:nvSpPr>
          <p:cNvPr id="7" name="card3"/>
          <p:cNvSpPr/>
          <p:nvPr/>
        </p:nvSpPr>
        <p:spPr>
          <a:xfrm>
            <a:off x="434340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50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14 pain points costing money and visibility</a:t>
            </a:r>
            <a:endParaRPr lang="en-US" sz="1200" dirty="0"/>
          </a:p>
        </p:txBody>
      </p:sp>
      <p:sp>
        <p:nvSpPr>
          <p:cNvPr id="11" name="card4"/>
          <p:cNvSpPr/>
          <p:nvPr/>
        </p:nvSpPr>
        <p:spPr>
          <a:xfrm>
            <a:off x="813816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450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Our approach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Methodology, documents and governance</a:t>
            </a:r>
            <a:endParaRPr lang="en-US" sz="1200" dirty="0"/>
          </a:p>
        </p:txBody>
      </p:sp>
      <p:sp>
        <p:nvSpPr>
          <p:cNvPr id="15" name="card5"/>
          <p:cNvSpPr/>
          <p:nvPr/>
        </p:nvSpPr>
        <p:spPr>
          <a:xfrm>
            <a:off x="54864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The solution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9 modules, 70 requirements, 11 customizations</a:t>
            </a:r>
            <a:endParaRPr lang="en-US" sz="1200" dirty="0"/>
          </a:p>
        </p:txBody>
      </p:sp>
      <p:sp>
        <p:nvSpPr>
          <p:cNvPr id="19" name="card6"/>
          <p:cNvSpPr/>
          <p:nvPr/>
        </p:nvSpPr>
        <p:spPr>
          <a:xfrm>
            <a:off x="434340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The data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Entity data and 27 import files</a:t>
            </a:r>
            <a:endParaRPr lang="en-US" sz="1200" dirty="0"/>
          </a:p>
        </p:txBody>
      </p:sp>
      <p:sp>
        <p:nvSpPr>
          <p:cNvPr id="23" name="card7"/>
          <p:cNvSpPr/>
          <p:nvPr/>
        </p:nvSpPr>
        <p:spPr>
          <a:xfrm>
            <a:off x="813816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</a:rPr>
              <a:t>Delivery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UAT, training, go-live and investment</a:t>
            </a:r>
            <a:endParaRPr lang="en-US" sz="12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Part 01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client: Beitak Smart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An appliance business running on a legacy accounting package, Excel and a standalone cashier program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Beitak Smart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Imports and distributes appliances, assembles its own fan and components, and sells through a Cairo showroom</a:t>
            </a:r>
            <a:endParaRPr lang="en-US" sz="1400" dirty="0"/>
          </a:p>
        </p:txBody>
      </p:sp>
      <p:sp>
        <p:nvSpPr>
          <p:cNvPr id="4" name="card8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01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40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871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appliance models</a:t>
            </a:r>
            <a:endParaRPr lang="en-US" sz="1200" dirty="0"/>
          </a:p>
        </p:txBody>
      </p:sp>
      <p:sp>
        <p:nvSpPr>
          <p:cNvPr id="7" name="card9"/>
          <p:cNvSpPr/>
          <p:nvPr/>
        </p:nvSpPr>
        <p:spPr>
          <a:xfrm>
            <a:off x="278892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901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24871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brands</a:t>
            </a:r>
            <a:endParaRPr lang="en-US" sz="1200" dirty="0"/>
          </a:p>
        </p:txBody>
      </p:sp>
      <p:sp>
        <p:nvSpPr>
          <p:cNvPr id="10" name="card10"/>
          <p:cNvSpPr/>
          <p:nvPr/>
        </p:nvSpPr>
        <p:spPr>
          <a:xfrm>
            <a:off x="502920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901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24871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warehouses</a:t>
            </a:r>
            <a:endParaRPr lang="en-US" sz="1200" dirty="0"/>
          </a:p>
        </p:txBody>
      </p:sp>
      <p:sp>
        <p:nvSpPr>
          <p:cNvPr id="13" name="card11"/>
          <p:cNvSpPr/>
          <p:nvPr/>
        </p:nvSpPr>
        <p:spPr>
          <a:xfrm>
            <a:off x="726948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1901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36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79208" y="24871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6" name="card12"/>
          <p:cNvSpPr/>
          <p:nvPr/>
        </p:nvSpPr>
        <p:spPr>
          <a:xfrm>
            <a:off x="9509760" y="17373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901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30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619488" y="24871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Odoo users</a:t>
            </a:r>
            <a:endParaRPr lang="en-US" sz="1200" dirty="0"/>
          </a:p>
        </p:txBody>
      </p:sp>
      <p:sp>
        <p:nvSpPr>
          <p:cNvPr id="19" name="card13"/>
          <p:cNvSpPr/>
          <p:nvPr/>
        </p:nvSpPr>
        <p:spPr>
          <a:xfrm>
            <a:off x="548640" y="338328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38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Trading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53872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E"/>
                </a:solidFill>
              </a:rPr>
              <a:t>Imports from China in USD and buys from local agents; sells to 12 retailers, 2 distributors and 3 corporate clients</a:t>
            </a:r>
            <a:endParaRPr lang="en-US" sz="1300" dirty="0"/>
          </a:p>
        </p:txBody>
      </p:sp>
      <p:sp>
        <p:nvSpPr>
          <p:cNvPr id="22" name="card14"/>
          <p:cNvSpPr/>
          <p:nvPr/>
        </p:nvSpPr>
        <p:spPr>
          <a:xfrm>
            <a:off x="548640" y="409651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251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Assembly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25196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E"/>
                </a:solidFill>
              </a:rPr>
              <a:t>Own-brand stand fan, control boards, metal casings, harnesses and filters in a Cairo assembly unit</a:t>
            </a:r>
            <a:endParaRPr lang="en-US" sz="1300" dirty="0"/>
          </a:p>
        </p:txBody>
      </p:sp>
      <p:sp>
        <p:nvSpPr>
          <p:cNvPr id="25" name="card15"/>
          <p:cNvSpPr/>
          <p:nvPr/>
        </p:nvSpPr>
        <p:spPr>
          <a:xfrm>
            <a:off x="548640" y="480974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965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Retail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496519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E"/>
                </a:solidFill>
              </a:rPr>
              <a:t>Cairo showroom selling to walk-in customers on a standalone cashier program</a:t>
            </a:r>
            <a:endParaRPr lang="en-US" sz="1300" dirty="0"/>
          </a:p>
        </p:txBody>
      </p:sp>
      <p:sp>
        <p:nvSpPr>
          <p:cNvPr id="28" name="card16"/>
          <p:cNvSpPr/>
          <p:nvPr/>
        </p:nvSpPr>
        <p:spPr>
          <a:xfrm>
            <a:off x="548640" y="552297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6784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Services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567842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E"/>
                </a:solidFill>
              </a:rPr>
              <a:t>Air-conditioner and TV wall-mount installation sold with the appliance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The problems we found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14 pain points from discovery workshops with every department — the six with the highest impact</a:t>
            </a:r>
            <a:endParaRPr lang="en-US" sz="1400" dirty="0"/>
          </a:p>
        </p:txBody>
      </p:sp>
      <p:sp>
        <p:nvSpPr>
          <p:cNvPr id="4" name="card17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5" name="pain0"/>
          <p:cNvSpPr/>
          <p:nvPr/>
        </p:nvSpPr>
        <p:spPr>
          <a:xfrm>
            <a:off x="804672" y="1965960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29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Landed costs never reach item cost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677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Freight, duties and clearance stay in Excel, so margins look better than they are</a:t>
            </a:r>
            <a:endParaRPr lang="en-US" sz="1150" dirty="0"/>
          </a:p>
        </p:txBody>
      </p:sp>
      <p:sp>
        <p:nvSpPr>
          <p:cNvPr id="9" name="card18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0" name="pain1"/>
          <p:cNvSpPr/>
          <p:nvPr/>
        </p:nvSpPr>
        <p:spPr>
          <a:xfrm>
            <a:off x="6519672" y="1965960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29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Stock-outs and overstock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2677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No min / max rules against 45-60 day import lead times</a:t>
            </a:r>
            <a:endParaRPr lang="en-US" sz="1150" dirty="0"/>
          </a:p>
        </p:txBody>
      </p:sp>
      <p:sp>
        <p:nvSpPr>
          <p:cNvPr id="14" name="card19"/>
          <p:cNvSpPr/>
          <p:nvPr/>
        </p:nvSpPr>
        <p:spPr>
          <a:xfrm>
            <a:off x="548640" y="31729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5" name="pain2"/>
          <p:cNvSpPr/>
          <p:nvPr/>
        </p:nvSpPr>
        <p:spPr>
          <a:xfrm>
            <a:off x="804672" y="3447288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4472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10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Assembled product cost unknown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749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Component consumption, labour and scrap are never recorded</a:t>
            </a:r>
            <a:endParaRPr lang="en-US" sz="1150" dirty="0"/>
          </a:p>
        </p:txBody>
      </p:sp>
      <p:sp>
        <p:nvSpPr>
          <p:cNvPr id="19" name="card20"/>
          <p:cNvSpPr/>
          <p:nvPr/>
        </p:nvSpPr>
        <p:spPr>
          <a:xfrm>
            <a:off x="6263640" y="31729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0" name="pain3"/>
          <p:cNvSpPr/>
          <p:nvPr/>
        </p:nvSpPr>
        <p:spPr>
          <a:xfrm>
            <a:off x="6519672" y="3447288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4472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07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410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Receivables out of control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7490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Cheques tracked in Excel; credit limits exist on paper only</a:t>
            </a:r>
            <a:endParaRPr lang="en-US" sz="1150" dirty="0"/>
          </a:p>
        </p:txBody>
      </p:sp>
      <p:sp>
        <p:nvSpPr>
          <p:cNvPr id="24" name="card21"/>
          <p:cNvSpPr/>
          <p:nvPr/>
        </p:nvSpPr>
        <p:spPr>
          <a:xfrm>
            <a:off x="548640" y="465429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5" name="pain4"/>
          <p:cNvSpPr/>
          <p:nvPr/>
        </p:nvSpPr>
        <p:spPr>
          <a:xfrm>
            <a:off x="804672" y="4928616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928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09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4892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No profitability by line or branch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52303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Management cannot tell trading from manufacturing, or Cairo from Asyut</a:t>
            </a:r>
            <a:endParaRPr lang="en-US" sz="1150" dirty="0"/>
          </a:p>
        </p:txBody>
      </p:sp>
      <p:sp>
        <p:nvSpPr>
          <p:cNvPr id="29" name="card22"/>
          <p:cNvSpPr/>
          <p:nvPr/>
        </p:nvSpPr>
        <p:spPr>
          <a:xfrm>
            <a:off x="6263640" y="465429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30" name="pain5"/>
          <p:cNvSpPr/>
          <p:nvPr/>
        </p:nvSpPr>
        <p:spPr>
          <a:xfrm>
            <a:off x="6519672" y="4928616"/>
            <a:ext cx="731520" cy="731520"/>
          </a:xfrm>
          <a:prstGeom prst="ellipse">
            <a:avLst/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9672" y="4928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10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892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Month-end close takes 15 days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2303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Everything is re-keyed between Excel and the legacy package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What success looks like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Eight KPIs agreed with the client, measured six months after go-live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>
            <p:ph idx="102" type="chart" hasCustomPrompt="1"/>
          </p:nvPr>
        </p:nvGraphicFramePr>
        <p:xfrm>
          <a:off x="548640" y="164592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23"/>
          <p:cNvSpPr/>
          <p:nvPr/>
        </p:nvSpPr>
        <p:spPr>
          <a:xfrm>
            <a:off x="7315200" y="173736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Also measured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860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Landed costs allocated on 100% of import shipments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P&amp;L by branch and business line available by working day 5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100% of B2B opportunities tracked in the CRM pipeline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Showroom sales posted to stock and accounting daily instead of weekly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440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2"/>
                </a:solidFill>
              </a:rPr>
              <a:t>Baselines are discovery estimates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Part 02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we ran the project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Eight phases, seven milestones, and a document at every gate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Implementation methodology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13 weeks from kick-off on 4 October 2026 to go-live on 1 January 2027, then four weeks of hypercare</a:t>
            </a:r>
            <a:endParaRPr lang="en-US" sz="1400" dirty="0"/>
          </a:p>
        </p:txBody>
      </p:sp>
      <p:sp>
        <p:nvSpPr>
          <p:cNvPr id="4" name="card24"/>
          <p:cNvSpPr/>
          <p:nvPr/>
        </p:nvSpPr>
        <p:spPr>
          <a:xfrm>
            <a:off x="548640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Discovery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W1-2</a:t>
            </a:r>
            <a:endParaRPr lang="en-US" sz="1050" dirty="0"/>
          </a:p>
        </p:txBody>
      </p:sp>
      <p:sp>
        <p:nvSpPr>
          <p:cNvPr id="8" name="arr0"/>
          <p:cNvSpPr/>
          <p:nvPr/>
        </p:nvSpPr>
        <p:spPr>
          <a:xfrm rot="5400000">
            <a:off x="1847088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9" name="card25"/>
          <p:cNvSpPr/>
          <p:nvPr/>
        </p:nvSpPr>
        <p:spPr>
          <a:xfrm>
            <a:off x="1975104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75104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020824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Analysis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020824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W2-4</a:t>
            </a:r>
            <a:endParaRPr lang="en-US" sz="1050" dirty="0"/>
          </a:p>
        </p:txBody>
      </p:sp>
      <p:sp>
        <p:nvSpPr>
          <p:cNvPr id="13" name="arr1"/>
          <p:cNvSpPr/>
          <p:nvPr/>
        </p:nvSpPr>
        <p:spPr>
          <a:xfrm rot="5400000">
            <a:off x="3273552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14" name="card26"/>
          <p:cNvSpPr/>
          <p:nvPr/>
        </p:nvSpPr>
        <p:spPr>
          <a:xfrm>
            <a:off x="3401568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Design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W4-5</a:t>
            </a:r>
            <a:endParaRPr lang="en-US" sz="1050" dirty="0"/>
          </a:p>
        </p:txBody>
      </p:sp>
      <p:sp>
        <p:nvSpPr>
          <p:cNvPr id="18" name="arr2"/>
          <p:cNvSpPr/>
          <p:nvPr/>
        </p:nvSpPr>
        <p:spPr>
          <a:xfrm rot="5400000">
            <a:off x="4700016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19" name="card27"/>
          <p:cNvSpPr/>
          <p:nvPr/>
        </p:nvSpPr>
        <p:spPr>
          <a:xfrm>
            <a:off x="4828032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73752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Build &amp; migrate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73752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W6-9</a:t>
            </a:r>
            <a:endParaRPr lang="en-US" sz="1050" dirty="0"/>
          </a:p>
        </p:txBody>
      </p:sp>
      <p:sp>
        <p:nvSpPr>
          <p:cNvPr id="23" name="arr3"/>
          <p:cNvSpPr/>
          <p:nvPr/>
        </p:nvSpPr>
        <p:spPr>
          <a:xfrm rot="5400000">
            <a:off x="6126480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24" name="card28"/>
          <p:cNvSpPr/>
          <p:nvPr/>
        </p:nvSpPr>
        <p:spPr>
          <a:xfrm>
            <a:off x="6254496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UAT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300216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W10-11</a:t>
            </a:r>
            <a:endParaRPr lang="en-US" sz="1050" dirty="0"/>
          </a:p>
        </p:txBody>
      </p:sp>
      <p:sp>
        <p:nvSpPr>
          <p:cNvPr id="28" name="arr4"/>
          <p:cNvSpPr/>
          <p:nvPr/>
        </p:nvSpPr>
        <p:spPr>
          <a:xfrm rot="5400000">
            <a:off x="7552944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29" name="card29"/>
          <p:cNvSpPr/>
          <p:nvPr/>
        </p:nvSpPr>
        <p:spPr>
          <a:xfrm>
            <a:off x="7680960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Training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W11-12</a:t>
            </a:r>
            <a:endParaRPr lang="en-US" sz="1050" dirty="0"/>
          </a:p>
        </p:txBody>
      </p:sp>
      <p:sp>
        <p:nvSpPr>
          <p:cNvPr id="33" name="arr5"/>
          <p:cNvSpPr/>
          <p:nvPr/>
        </p:nvSpPr>
        <p:spPr>
          <a:xfrm rot="5400000">
            <a:off x="8979408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34" name="card30"/>
          <p:cNvSpPr/>
          <p:nvPr/>
        </p:nvSpPr>
        <p:spPr>
          <a:xfrm>
            <a:off x="9107424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07424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5F"/>
                </a:solidFill>
              </a:rPr>
              <a:t>7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153144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Cutover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153144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W13</a:t>
            </a:r>
            <a:endParaRPr lang="en-US" sz="1050" dirty="0"/>
          </a:p>
        </p:txBody>
      </p:sp>
      <p:sp>
        <p:nvSpPr>
          <p:cNvPr id="38" name="arr6"/>
          <p:cNvSpPr/>
          <p:nvPr/>
        </p:nvSpPr>
        <p:spPr>
          <a:xfrm rot="5400000">
            <a:off x="10405872" y="2468880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39" name="card31"/>
          <p:cNvSpPr/>
          <p:nvPr/>
        </p:nvSpPr>
        <p:spPr>
          <a:xfrm>
            <a:off x="10533888" y="187452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33888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3F"/>
                </a:solidFill>
              </a:rPr>
              <a:t>8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10579608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2E"/>
                </a:solidFill>
              </a:rPr>
              <a:t>Hypercare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579608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2"/>
                </a:solidFill>
              </a:rPr>
              <a:t>Jan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Milestones with client sign-off</a:t>
            </a:r>
            <a:endParaRPr lang="en-US" sz="1600" dirty="0"/>
          </a:p>
        </p:txBody>
      </p:sp>
      <p:sp>
        <p:nvSpPr>
          <p:cNvPr id="44" name="card32"/>
          <p:cNvSpPr/>
          <p:nvPr/>
        </p:nvSpPr>
        <p:spPr>
          <a:xfrm>
            <a:off x="548640" y="39319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49808" y="4160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M2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25880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BRD signed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325880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22 Oct 2026</a:t>
            </a:r>
            <a:endParaRPr lang="en-US" sz="1150" dirty="0"/>
          </a:p>
        </p:txBody>
      </p:sp>
      <p:sp>
        <p:nvSpPr>
          <p:cNvPr id="48" name="card33"/>
          <p:cNvSpPr/>
          <p:nvPr/>
        </p:nvSpPr>
        <p:spPr>
          <a:xfrm>
            <a:off x="4343400" y="39319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544568" y="4160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M3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Design &amp; proposals signed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120640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5 Nov 2026</a:t>
            </a:r>
            <a:endParaRPr lang="en-US" sz="1150" dirty="0"/>
          </a:p>
        </p:txBody>
      </p:sp>
      <p:sp>
        <p:nvSpPr>
          <p:cNvPr id="52" name="card34"/>
          <p:cNvSpPr/>
          <p:nvPr/>
        </p:nvSpPr>
        <p:spPr>
          <a:xfrm>
            <a:off x="8138160" y="393192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339328" y="4160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M4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8915400" y="4059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Build &amp; migration complete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915400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3 Dec 2026</a:t>
            </a:r>
            <a:endParaRPr lang="en-US" sz="1150" dirty="0"/>
          </a:p>
        </p:txBody>
      </p:sp>
      <p:sp>
        <p:nvSpPr>
          <p:cNvPr id="56" name="card35"/>
          <p:cNvSpPr/>
          <p:nvPr/>
        </p:nvSpPr>
        <p:spPr>
          <a:xfrm>
            <a:off x="548640" y="49377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749808" y="5166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M5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1325880" y="5065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UAT signed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325880" y="5367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17 Dec 2026</a:t>
            </a:r>
            <a:endParaRPr lang="en-US" sz="1150" dirty="0"/>
          </a:p>
        </p:txBody>
      </p:sp>
      <p:sp>
        <p:nvSpPr>
          <p:cNvPr id="60" name="card36"/>
          <p:cNvSpPr/>
          <p:nvPr/>
        </p:nvSpPr>
        <p:spPr>
          <a:xfrm>
            <a:off x="4343400" y="49377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4544568" y="5166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M6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5120640" y="5065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Go-live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120640" y="5367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1 Jan 2027</a:t>
            </a:r>
            <a:endParaRPr lang="en-US" sz="1150" dirty="0"/>
          </a:p>
        </p:txBody>
      </p:sp>
      <p:sp>
        <p:nvSpPr>
          <p:cNvPr id="64" name="card37"/>
          <p:cNvSpPr/>
          <p:nvPr/>
        </p:nvSpPr>
        <p:spPr>
          <a:xfrm>
            <a:off x="8138160" y="493776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8339328" y="5166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</a:rPr>
              <a:t>M7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8915400" y="5065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</a:rPr>
              <a:t>Hypercare closed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8915400" y="5367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28 Jan 2027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What we delivered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Four folders in one GitHub repository — every document traceable to the one before it</a:t>
            </a:r>
            <a:endParaRPr lang="en-US" sz="1400" dirty="0"/>
          </a:p>
        </p:txBody>
      </p:sp>
      <p:sp>
        <p:nvSpPr>
          <p:cNvPr id="4" name="card38"/>
          <p:cNvSpPr/>
          <p:nvPr/>
        </p:nvSpPr>
        <p:spPr>
          <a:xfrm>
            <a:off x="548640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5" name="fold0"/>
          <p:cNvSpPr/>
          <p:nvPr/>
        </p:nvSpPr>
        <p:spPr>
          <a:xfrm>
            <a:off x="777240" y="19659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E8B9A"/>
          </a:solidFill>
          <a:ln w="12700">
            <a:solidFill>
              <a:srgbClr val="2E8B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Slide deck (PPTX + PDF)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Demo video of the live system</a:t>
            </a:r>
            <a:endParaRPr lang="en-US" sz="1200" dirty="0"/>
          </a:p>
        </p:txBody>
      </p:sp>
      <p:sp>
        <p:nvSpPr>
          <p:cNvPr id="9" name="card39"/>
          <p:cNvSpPr/>
          <p:nvPr/>
        </p:nvSpPr>
        <p:spPr>
          <a:xfrm>
            <a:off x="3419856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0" name="fold1"/>
          <p:cNvSpPr/>
          <p:nvPr/>
        </p:nvSpPr>
        <p:spPr>
          <a:xfrm>
            <a:off x="3648456" y="19659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8456" y="1965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Preparations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2004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Company Profile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Project Name &amp; Scope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Team &amp; Roles + RACI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Basic Database Configuration</a:t>
            </a:r>
            <a:endParaRPr lang="en-US" sz="1200" dirty="0"/>
          </a:p>
        </p:txBody>
      </p:sp>
      <p:sp>
        <p:nvSpPr>
          <p:cNvPr id="14" name="card40"/>
          <p:cNvSpPr/>
          <p:nvPr/>
        </p:nvSpPr>
        <p:spPr>
          <a:xfrm>
            <a:off x="6291072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5" name="fold2"/>
          <p:cNvSpPr/>
          <p:nvPr/>
        </p:nvSpPr>
        <p:spPr>
          <a:xfrm>
            <a:off x="6519672" y="19659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1965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Project documents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2004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BRD · RTM · GAWF · SSD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TPD · FPD + cost model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UPD · TD · UDP · UATD</a:t>
            </a:r>
            <a:endParaRPr lang="en-US" sz="1200" dirty="0"/>
          </a:p>
        </p:txBody>
      </p:sp>
      <p:sp>
        <p:nvSpPr>
          <p:cNvPr id="19" name="card41"/>
          <p:cNvSpPr/>
          <p:nvPr/>
        </p:nvSpPr>
        <p:spPr>
          <a:xfrm>
            <a:off x="9162288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0" name="fold3"/>
          <p:cNvSpPr/>
          <p:nvPr/>
        </p:nvSpPr>
        <p:spPr>
          <a:xfrm>
            <a:off x="9390888" y="19659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90888" y="1965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Entity data &amp; setup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2004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3 entity-data workbooks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27 Odoo import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Go-Live &amp; Deployment Plan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Part 03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Nine Odoo modules covering every department, designed around 70 agreed requirements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Nine modules, one database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Each module owned by one consultant and signed off by one key user at the client</a:t>
            </a:r>
            <a:endParaRPr lang="en-US" sz="1400" dirty="0"/>
          </a:p>
        </p:txBody>
      </p:sp>
      <p:sp>
        <p:nvSpPr>
          <p:cNvPr id="4" name="card42"/>
          <p:cNvSpPr/>
          <p:nvPr/>
        </p:nvSpPr>
        <p:spPr>
          <a:xfrm>
            <a:off x="548640" y="1691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CRM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768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Pipeline for 6 sales teams, activities, lost reasons</a:t>
            </a:r>
            <a:endParaRPr lang="en-US" sz="1200" dirty="0"/>
          </a:p>
        </p:txBody>
      </p:sp>
      <p:sp>
        <p:nvSpPr>
          <p:cNvPr id="7" name="card43"/>
          <p:cNvSpPr/>
          <p:nvPr/>
        </p:nvSpPr>
        <p:spPr>
          <a:xfrm>
            <a:off x="4343400" y="1691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Sales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2768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4 price lists, credit control, discount approval, margins</a:t>
            </a:r>
            <a:endParaRPr lang="en-US" sz="1200" dirty="0"/>
          </a:p>
        </p:txBody>
      </p:sp>
      <p:sp>
        <p:nvSpPr>
          <p:cNvPr id="10" name="card44"/>
          <p:cNvSpPr/>
          <p:nvPr/>
        </p:nvSpPr>
        <p:spPr>
          <a:xfrm>
            <a:off x="8138160" y="16916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94192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Point of Sale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22768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Cairo showroom: barcode, serials, cash / card / account</a:t>
            </a:r>
            <a:endParaRPr lang="en-US" sz="1200" dirty="0"/>
          </a:p>
        </p:txBody>
      </p:sp>
      <p:sp>
        <p:nvSpPr>
          <p:cNvPr id="13" name="card45"/>
          <p:cNvSpPr/>
          <p:nvPr/>
        </p:nvSpPr>
        <p:spPr>
          <a:xfrm>
            <a:off x="548640" y="31546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355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Purchase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398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USD vendors, PO approval, three-way match, landed costs</a:t>
            </a:r>
            <a:endParaRPr lang="en-US" sz="1200" dirty="0"/>
          </a:p>
        </p:txBody>
      </p:sp>
      <p:sp>
        <p:nvSpPr>
          <p:cNvPr id="16" name="card46"/>
          <p:cNvSpPr/>
          <p:nvPr/>
        </p:nvSpPr>
        <p:spPr>
          <a:xfrm>
            <a:off x="4343400" y="31546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3355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Inventory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7398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5 warehouses, multi-step routes, 1,546 serials, counts</a:t>
            </a:r>
            <a:endParaRPr lang="en-US" sz="1200" dirty="0"/>
          </a:p>
        </p:txBody>
      </p:sp>
      <p:sp>
        <p:nvSpPr>
          <p:cNvPr id="19" name="card47"/>
          <p:cNvSpPr/>
          <p:nvPr/>
        </p:nvSpPr>
        <p:spPr>
          <a:xfrm>
            <a:off x="8138160" y="31546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94192" y="3355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Manufacturing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37398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11 BOMs, 5 work centers, work orders, real cost</a:t>
            </a:r>
            <a:endParaRPr lang="en-US" sz="1200" dirty="0"/>
          </a:p>
        </p:txBody>
      </p:sp>
      <p:sp>
        <p:nvSpPr>
          <p:cNvPr id="22" name="card48"/>
          <p:cNvSpPr/>
          <p:nvPr/>
        </p:nvSpPr>
        <p:spPr>
          <a:xfrm>
            <a:off x="548640" y="461772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4672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Accounting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2029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Egypt localization, VAT &amp; WHT, 9 journals, analytic P&amp;L</a:t>
            </a:r>
            <a:endParaRPr lang="en-US" sz="1200" dirty="0"/>
          </a:p>
        </p:txBody>
      </p:sp>
      <p:sp>
        <p:nvSpPr>
          <p:cNvPr id="25" name="card49"/>
          <p:cNvSpPr/>
          <p:nvPr/>
        </p:nvSpPr>
        <p:spPr>
          <a:xfrm>
            <a:off x="4343400" y="461772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99432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Employees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52029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36 employees, time off, attendance kiosk</a:t>
            </a:r>
            <a:endParaRPr lang="en-US" sz="1200" dirty="0"/>
          </a:p>
        </p:txBody>
      </p:sp>
      <p:sp>
        <p:nvSpPr>
          <p:cNvPr id="28" name="card50"/>
          <p:cNvSpPr/>
          <p:nvPr/>
        </p:nvSpPr>
        <p:spPr>
          <a:xfrm>
            <a:off x="8138160" y="461772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94192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Approvals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94192" y="52029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Purchase, payment, discount and credit-limit gates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Standard first, customize last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70 requirements classified in the gap analysis — the programme guideline is roughly 70 / 10-15 / 15-20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>
            <p:ph idx="102" type="chart" hasCustomPrompt="1"/>
          </p:nvPr>
        </p:nvGraphicFramePr>
        <p:xfrm>
          <a:off x="548640" y="164592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51"/>
          <p:cNvSpPr/>
          <p:nvPr/>
        </p:nvSpPr>
        <p:spPr>
          <a:xfrm>
            <a:off x="7315200" y="173736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860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73% standard keeps upgrades cheap and safe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11% workarounds use standard features in a defined way, documented for training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16% customizations are Studio fields, approval rules and report layouts — no custom modules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343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</a:rPr>
              <a:t>11 customizations = 15 consultant days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4663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Bilingual invoice and delivery note, import container tracking, warranty dates, credit-limit and discount approval, commission and shipment cost reports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Fixing the cost problem: procure to pay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From a USD purchase order in China to a product cost that finally includes freight, duties, clearance and insurance</a:t>
            </a:r>
            <a:endParaRPr lang="en-US" sz="1400" dirty="0"/>
          </a:p>
        </p:txBody>
      </p:sp>
      <p:sp>
        <p:nvSpPr>
          <p:cNvPr id="4" name="card52"/>
          <p:cNvSpPr/>
          <p:nvPr/>
        </p:nvSpPr>
        <p:spPr>
          <a:xfrm>
            <a:off x="548640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5F"/>
                </a:solidFill>
              </a:rPr>
              <a:t>RFQ &amp; PO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USD vendor price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GM approves</a:t>
            </a:r>
            <a:endParaRPr lang="en-US" sz="1100" dirty="0"/>
          </a:p>
        </p:txBody>
      </p:sp>
      <p:sp>
        <p:nvSpPr>
          <p:cNvPr id="7" name="fa0"/>
          <p:cNvSpPr/>
          <p:nvPr/>
        </p:nvSpPr>
        <p:spPr>
          <a:xfrm rot="5400000">
            <a:off x="2313432" y="2679192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8" name="card53"/>
          <p:cNvSpPr/>
          <p:nvPr/>
        </p:nvSpPr>
        <p:spPr>
          <a:xfrm>
            <a:off x="2450592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5F"/>
                </a:solidFill>
              </a:rPr>
              <a:t>Shipment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Container, B/L, ETA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tracked on the PO</a:t>
            </a:r>
            <a:endParaRPr lang="en-US" sz="1100" dirty="0"/>
          </a:p>
        </p:txBody>
      </p:sp>
      <p:sp>
        <p:nvSpPr>
          <p:cNvPr id="11" name="fa1"/>
          <p:cNvSpPr/>
          <p:nvPr/>
        </p:nvSpPr>
        <p:spPr>
          <a:xfrm rot="5400000">
            <a:off x="4215384" y="2679192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12" name="card54"/>
          <p:cNvSpPr/>
          <p:nvPr/>
        </p:nvSpPr>
        <p:spPr>
          <a:xfrm>
            <a:off x="4352544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5F"/>
                </a:solidFill>
              </a:rPr>
              <a:t>Receipt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Input → QC → Stock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serials scanned</a:t>
            </a:r>
            <a:endParaRPr lang="en-US" sz="1100" dirty="0"/>
          </a:p>
        </p:txBody>
      </p:sp>
      <p:sp>
        <p:nvSpPr>
          <p:cNvPr id="15" name="fa2"/>
          <p:cNvSpPr/>
          <p:nvPr/>
        </p:nvSpPr>
        <p:spPr>
          <a:xfrm rot="5400000">
            <a:off x="6117336" y="2679192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16" name="card55"/>
          <p:cNvSpPr/>
          <p:nvPr/>
        </p:nvSpPr>
        <p:spPr>
          <a:xfrm>
            <a:off x="6254496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5F"/>
                </a:solidFill>
              </a:rPr>
              <a:t>Bills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Freight, duties,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clearance, insurance</a:t>
            </a:r>
            <a:endParaRPr lang="en-US" sz="1100" dirty="0"/>
          </a:p>
        </p:txBody>
      </p:sp>
      <p:sp>
        <p:nvSpPr>
          <p:cNvPr id="19" name="fa3"/>
          <p:cNvSpPr/>
          <p:nvPr/>
        </p:nvSpPr>
        <p:spPr>
          <a:xfrm rot="5400000">
            <a:off x="8019288" y="2679192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20" name="card56"/>
          <p:cNvSpPr/>
          <p:nvPr/>
        </p:nvSpPr>
        <p:spPr>
          <a:xfrm>
            <a:off x="8156448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5F"/>
                </a:solidFill>
              </a:rPr>
              <a:t>Landed cost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Allocated to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2"/>
                </a:solidFill>
              </a:rPr>
              <a:t>receipt lines</a:t>
            </a:r>
            <a:endParaRPr lang="en-US" sz="1100" dirty="0"/>
          </a:p>
        </p:txBody>
      </p:sp>
      <p:sp>
        <p:nvSpPr>
          <p:cNvPr id="23" name="fa4"/>
          <p:cNvSpPr/>
          <p:nvPr/>
        </p:nvSpPr>
        <p:spPr>
          <a:xfrm rot="5400000">
            <a:off x="9921240" y="2679192"/>
            <a:ext cx="128016" cy="182880"/>
          </a:xfrm>
          <a:prstGeom prst="triangle">
            <a:avLst/>
          </a:prstGeom>
          <a:solidFill>
            <a:srgbClr val="9FB8C1"/>
          </a:solidFill>
          <a:ln w="12700">
            <a:solidFill>
              <a:srgbClr val="9FB8C1"/>
            </a:solidFill>
            <a:prstDash val="solid"/>
          </a:ln>
        </p:spPr>
      </p:sp>
      <p:sp>
        <p:nvSpPr>
          <p:cNvPr id="24" name="card57"/>
          <p:cNvSpPr/>
          <p:nvPr/>
        </p:nvSpPr>
        <p:spPr>
          <a:xfrm>
            <a:off x="10058400" y="192024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4984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Real cost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25420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BE2"/>
                </a:solidFill>
              </a:rPr>
              <a:t>Product cost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BE2"/>
                </a:solidFill>
              </a:rPr>
              <a:t>margin are correct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The accounting behind it</a:t>
            </a:r>
            <a:endParaRPr lang="en-US" sz="1600" dirty="0"/>
          </a:p>
        </p:txBody>
      </p:sp>
      <p:sp>
        <p:nvSpPr>
          <p:cNvPr id="28" name="card58"/>
          <p:cNvSpPr/>
          <p:nvPr/>
        </p:nvSpPr>
        <p:spPr>
          <a:xfrm>
            <a:off x="548640" y="4297680"/>
            <a:ext cx="6675120" cy="420624"/>
          </a:xfrm>
          <a:prstGeom prst="roundRect">
            <a:avLst>
              <a:gd name="adj" fmla="val 17391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Receipt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4361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Dr Inventory 1201xx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361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Cr GRNI 120900</a:t>
            </a:r>
            <a:endParaRPr lang="en-US" sz="1200" dirty="0"/>
          </a:p>
        </p:txBody>
      </p:sp>
      <p:sp>
        <p:nvSpPr>
          <p:cNvPr id="32" name="card59"/>
          <p:cNvSpPr/>
          <p:nvPr/>
        </p:nvSpPr>
        <p:spPr>
          <a:xfrm>
            <a:off x="548640" y="4782312"/>
            <a:ext cx="6675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846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Vendor bill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484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Dr GRNI + VAT input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484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Cr Payables 211200 (USD)</a:t>
            </a:r>
            <a:endParaRPr lang="en-US" sz="1200" dirty="0"/>
          </a:p>
        </p:txBody>
      </p:sp>
      <p:sp>
        <p:nvSpPr>
          <p:cNvPr id="36" name="card60"/>
          <p:cNvSpPr/>
          <p:nvPr/>
        </p:nvSpPr>
        <p:spPr>
          <a:xfrm>
            <a:off x="548640" y="5266944"/>
            <a:ext cx="6675120" cy="420624"/>
          </a:xfrm>
          <a:prstGeom prst="roundRect">
            <a:avLst>
              <a:gd name="adj" fmla="val 17391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330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Cost bills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5330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Dr Clearing 1301xx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754880" y="5330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Cr Payables 211100</a:t>
            </a:r>
            <a:endParaRPr lang="en-US" sz="1200" dirty="0"/>
          </a:p>
        </p:txBody>
      </p:sp>
      <p:sp>
        <p:nvSpPr>
          <p:cNvPr id="40" name="card61"/>
          <p:cNvSpPr/>
          <p:nvPr/>
        </p:nvSpPr>
        <p:spPr>
          <a:xfrm>
            <a:off x="548640" y="5751576"/>
            <a:ext cx="66751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815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Landed cost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28600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Dr Inventory 1201xx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Cr Clearing 1301xx → zero</a:t>
            </a:r>
            <a:endParaRPr lang="en-US" sz="1200" dirty="0"/>
          </a:p>
        </p:txBody>
      </p:sp>
      <p:sp>
        <p:nvSpPr>
          <p:cNvPr id="44" name="card62"/>
          <p:cNvSpPr/>
          <p:nvPr/>
        </p:nvSpPr>
        <p:spPr>
          <a:xfrm>
            <a:off x="7498080" y="3886200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2"/>
                </a:solidFill>
              </a:rPr>
              <a:t>Before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Cost = invoice price only;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freight and duties sat in Excel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</a:rPr>
              <a:t>After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0" y="5212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5F"/>
                </a:solidFill>
              </a:rPr>
              <a:t>Cost includes about 10% landed costs,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4E5F"/>
                </a:solidFill>
              </a:rPr>
              <a:t>so margin and COGS are real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Costing the Beitak stand fan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A multi-level BOM: the fan control board is produced first, then consumed by the fan — labour comes from work-center rates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>
            <p:ph idx="102" type="chart" hasCustomPrompt="1"/>
          </p:nvPr>
        </p:nvGraphicFramePr>
        <p:xfrm>
          <a:off x="548640" y="164592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63"/>
          <p:cNvSpPr/>
          <p:nvPr/>
        </p:nvSpPr>
        <p:spPr>
          <a:xfrm>
            <a:off x="7315200" y="173736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How the cost is built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86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12 components including the in-house control board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2 operations: assembly line and QC &amp; packing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E"/>
                </a:solidFill>
              </a:rPr>
              <a:t>AVCO valuation posts every move automatically</a:t>
            </a:r>
            <a:endParaRPr lang="en-US" sz="1250" dirty="0"/>
          </a:p>
        </p:txBody>
      </p:sp>
      <p:sp>
        <p:nvSpPr>
          <p:cNvPr id="8" name="card64"/>
          <p:cNvSpPr/>
          <p:nvPr/>
        </p:nvSpPr>
        <p:spPr>
          <a:xfrm>
            <a:off x="7315200" y="42062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60920" y="43708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23%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24928" y="495604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gross margin</a:t>
            </a:r>
            <a:endParaRPr lang="en-US" sz="1200" dirty="0"/>
          </a:p>
        </p:txBody>
      </p:sp>
      <p:sp>
        <p:nvSpPr>
          <p:cNvPr id="11" name="card65"/>
          <p:cNvSpPr/>
          <p:nvPr/>
        </p:nvSpPr>
        <p:spPr>
          <a:xfrm>
            <a:off x="9555480" y="42062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0" y="43708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11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665208" y="495604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BOMs costed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623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2"/>
                </a:solidFill>
              </a:rPr>
              <a:t>Before: the fan cost was a guess. Now every manufacturing order shows planned versus real cost.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Selling with control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Pricing, credit and the showroom brought into the same system as stock and accounting</a:t>
            </a:r>
            <a:endParaRPr lang="en-US" sz="1400" dirty="0"/>
          </a:p>
        </p:txBody>
      </p:sp>
      <p:sp>
        <p:nvSpPr>
          <p:cNvPr id="4" name="dot-Pricing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81051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Pricing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06654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4 price lists (retail, wholesale, distributor, key account) with quantity breaks, all driven from the list price — one change updates every segment</a:t>
            </a:r>
            <a:endParaRPr lang="en-US" sz="1200" dirty="0"/>
          </a:p>
        </p:txBody>
      </p:sp>
      <p:sp>
        <p:nvSpPr>
          <p:cNvPr id="8" name="dot-Credit contr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322783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Credit control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48386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Credit limit per customer with a warning on the order, and confirmation blocked above the limit until the Finance Manager approves</a:t>
            </a:r>
            <a:endParaRPr lang="en-US" sz="1200" dirty="0"/>
          </a:p>
        </p:txBody>
      </p:sp>
      <p:sp>
        <p:nvSpPr>
          <p:cNvPr id="12" name="dot-Discounts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464515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Discounts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490118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Any line discount above 10% needs Sales Manager approval, logged in the document chatter</a:t>
            </a:r>
            <a:endParaRPr lang="en-US" sz="1200" dirty="0"/>
          </a:p>
        </p:txBody>
      </p:sp>
      <p:sp>
        <p:nvSpPr>
          <p:cNvPr id="16" name="dot-Showroom"/>
          <p:cNvSpPr/>
          <p:nvPr/>
        </p:nvSpPr>
        <p:spPr>
          <a:xfrm>
            <a:off x="6309360" y="1828800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81051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Showroom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06654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POS linked to Cairo stock: barcode scanning, a serial captured for every appliance, cash / card / customer account, and a cash count at closing</a:t>
            </a:r>
            <a:endParaRPr lang="en-US" sz="1200" dirty="0"/>
          </a:p>
        </p:txBody>
      </p:sp>
      <p:sp>
        <p:nvSpPr>
          <p:cNvPr id="20" name="dot-Traceability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322783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Traceability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48386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1,546 serial numbers from receipt through delivery to warranty and returns</a:t>
            </a:r>
            <a:endParaRPr lang="en-US" sz="1200" dirty="0"/>
          </a:p>
        </p:txBody>
      </p:sp>
      <p:sp>
        <p:nvSpPr>
          <p:cNvPr id="24" name="card66"/>
          <p:cNvSpPr/>
          <p:nvPr/>
        </p:nvSpPr>
        <p:spPr>
          <a:xfrm>
            <a:off x="6309360" y="4663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</a:rPr>
              <a:t>Why the client cares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074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Prices stop drifting between reps, overdue customers stop receiving goods, and showroom sales hit stock and the general ledger the same day instead of once a week.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Accounting that closes in five days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Egyptian localization, two analytic plans, and every stock and sales movement posting itself</a:t>
            </a:r>
            <a:endParaRPr lang="en-US" sz="1400" dirty="0"/>
          </a:p>
        </p:txBody>
      </p:sp>
      <p:sp>
        <p:nvSpPr>
          <p:cNvPr id="4" name="card67"/>
          <p:cNvSpPr/>
          <p:nvPr/>
        </p:nvSpPr>
        <p:spPr>
          <a:xfrm>
            <a:off x="548640" y="1737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019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61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8716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accounts added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5292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8B9A"/>
                </a:solidFill>
              </a:rPr>
              <a:t>on top of the Egypt localization</a:t>
            </a:r>
            <a:endParaRPr lang="en-US" sz="1100" dirty="0"/>
          </a:p>
        </p:txBody>
      </p:sp>
      <p:sp>
        <p:nvSpPr>
          <p:cNvPr id="8" name="card68"/>
          <p:cNvSpPr/>
          <p:nvPr/>
        </p:nvSpPr>
        <p:spPr>
          <a:xfrm>
            <a:off x="3383280" y="1737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9019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48716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journals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85292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8B9A"/>
                </a:solidFill>
              </a:rPr>
              <a:t>4 bank · 4 cash · opening</a:t>
            </a:r>
            <a:endParaRPr lang="en-US" sz="1100" dirty="0"/>
          </a:p>
        </p:txBody>
      </p:sp>
      <p:sp>
        <p:nvSpPr>
          <p:cNvPr id="12" name="card69"/>
          <p:cNvSpPr/>
          <p:nvPr/>
        </p:nvSpPr>
        <p:spPr>
          <a:xfrm>
            <a:off x="6217920" y="1737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9019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48716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analytic plans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85292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8B9A"/>
                </a:solidFill>
              </a:rPr>
              <a:t>business line · branch</a:t>
            </a:r>
            <a:endParaRPr lang="en-US" sz="1100" dirty="0"/>
          </a:p>
        </p:txBody>
      </p:sp>
      <p:sp>
        <p:nvSpPr>
          <p:cNvPr id="16" name="card70"/>
          <p:cNvSpPr/>
          <p:nvPr/>
        </p:nvSpPr>
        <p:spPr>
          <a:xfrm>
            <a:off x="9052560" y="17373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19019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14%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62288" y="24871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VAT + WHT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285292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8B9A"/>
                </a:solidFill>
              </a:rPr>
              <a:t>1% / 2% / 3% withholding</a:t>
            </a:r>
            <a:endParaRPr lang="en-US" sz="1100" dirty="0"/>
          </a:p>
        </p:txBody>
      </p:sp>
      <p:sp>
        <p:nvSpPr>
          <p:cNvPr id="20" name="card71"/>
          <p:cNvSpPr/>
          <p:nvPr/>
        </p:nvSpPr>
        <p:spPr>
          <a:xfrm>
            <a:off x="548640" y="3657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3803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Correct by design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COGS accounts are Cost of Revenue, inventory is valued per category, and interim accounts clear themselves</a:t>
            </a:r>
            <a:endParaRPr lang="en-US" sz="1150" dirty="0"/>
          </a:p>
        </p:txBody>
      </p:sp>
      <p:sp>
        <p:nvSpPr>
          <p:cNvPr id="23" name="card72"/>
          <p:cNvSpPr/>
          <p:nvPr/>
        </p:nvSpPr>
        <p:spPr>
          <a:xfrm>
            <a:off x="6263640" y="36576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19672" y="3803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Multi-currency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Only the CIB account is fixed in USD, so overseas bills post and the exchange difference lands in the right account</a:t>
            </a:r>
            <a:endParaRPr lang="en-US" sz="1150" dirty="0"/>
          </a:p>
        </p:txBody>
      </p:sp>
      <p:sp>
        <p:nvSpPr>
          <p:cNvPr id="26" name="card73"/>
          <p:cNvSpPr/>
          <p:nvPr/>
        </p:nvSpPr>
        <p:spPr>
          <a:xfrm>
            <a:off x="548640" y="4846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" y="4992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Post-dated cheques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Received and issued cheques sit in notes accounts with their maturity date until they clear</a:t>
            </a:r>
            <a:endParaRPr lang="en-US" sz="1150" dirty="0"/>
          </a:p>
        </p:txBody>
      </p:sp>
      <p:sp>
        <p:nvSpPr>
          <p:cNvPr id="29" name="card74"/>
          <p:cNvSpPr/>
          <p:nvPr/>
        </p:nvSpPr>
        <p:spPr>
          <a:xfrm>
            <a:off x="6263640" y="484632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EEF3F5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519672" y="4992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9A"/>
                </a:solidFill>
              </a:rPr>
              <a:t>Profitability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19672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2"/>
                </a:solidFill>
              </a:rPr>
              <a:t>P&amp;L by trading, manufacturing and services, and by each of the five branches plus the showroom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Part 04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data behind the system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All 15 entity-data items collected, cleansed and turned into 27 ready-to-load import files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Entity data and migration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Every figure in the deck comes from these files — they are the system, not a description of it</a:t>
            </a:r>
            <a:endParaRPr lang="en-US" sz="1400" dirty="0"/>
          </a:p>
        </p:txBody>
      </p:sp>
      <p:sp>
        <p:nvSpPr>
          <p:cNvPr id="4" name="card75"/>
          <p:cNvSpPr/>
          <p:nvPr/>
        </p:nvSpPr>
        <p:spPr>
          <a:xfrm>
            <a:off x="54864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89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products</a:t>
            </a:r>
            <a:endParaRPr lang="en-US" sz="1200" dirty="0"/>
          </a:p>
        </p:txBody>
      </p:sp>
      <p:sp>
        <p:nvSpPr>
          <p:cNvPr id="7" name="card76"/>
          <p:cNvSpPr/>
          <p:nvPr/>
        </p:nvSpPr>
        <p:spPr>
          <a:xfrm>
            <a:off x="246888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11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BOMs</a:t>
            </a:r>
            <a:endParaRPr lang="en-US" sz="1200" dirty="0"/>
          </a:p>
        </p:txBody>
      </p:sp>
      <p:sp>
        <p:nvSpPr>
          <p:cNvPr id="10" name="card77"/>
          <p:cNvSpPr/>
          <p:nvPr/>
        </p:nvSpPr>
        <p:spPr>
          <a:xfrm>
            <a:off x="438912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32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customers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&amp; vendors</a:t>
            </a:r>
            <a:endParaRPr lang="en-US" sz="1200" dirty="0"/>
          </a:p>
        </p:txBody>
      </p:sp>
      <p:sp>
        <p:nvSpPr>
          <p:cNvPr id="13" name="card78"/>
          <p:cNvSpPr/>
          <p:nvPr/>
        </p:nvSpPr>
        <p:spPr>
          <a:xfrm>
            <a:off x="630936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1,546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serial numbers</a:t>
            </a:r>
            <a:endParaRPr lang="en-US" sz="1200" dirty="0"/>
          </a:p>
        </p:txBody>
      </p:sp>
      <p:sp>
        <p:nvSpPr>
          <p:cNvPr id="16" name="card79"/>
          <p:cNvSpPr/>
          <p:nvPr/>
        </p:nvSpPr>
        <p:spPr>
          <a:xfrm>
            <a:off x="822960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36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9" name="card80"/>
          <p:cNvSpPr/>
          <p:nvPr/>
        </p:nvSpPr>
        <p:spPr>
          <a:xfrm>
            <a:off x="10149840" y="17373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95560" y="1901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27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259568" y="248716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import files</a:t>
            </a:r>
            <a:endParaRPr lang="en-US" sz="1200" dirty="0"/>
          </a:p>
        </p:txBody>
      </p:sp>
      <p:sp>
        <p:nvSpPr>
          <p:cNvPr id="22" name="card81"/>
          <p:cNvSpPr/>
          <p:nvPr/>
        </p:nvSpPr>
        <p:spPr>
          <a:xfrm>
            <a:off x="548640" y="34290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Three entity-data workbooks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9776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Organization &amp; accounting: org chart, users, chart of accounts, opening balances, banks, safes, journals, taxes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Products &amp; inventory: categories, products, BOMs, work centers, price lists, warehouses, stock by location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Partners &amp; cycles: customers, vendors, approvals matrix and six business cycles</a:t>
            </a:r>
            <a:endParaRPr lang="en-US" sz="1200" dirty="0"/>
          </a:p>
        </p:txBody>
      </p:sp>
      <p:sp>
        <p:nvSpPr>
          <p:cNvPr id="25" name="card82"/>
          <p:cNvSpPr/>
          <p:nvPr/>
        </p:nvSpPr>
        <p:spPr>
          <a:xfrm>
            <a:off x="6309360" y="34290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Opening balances validated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Trial balance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40,474,776.50 EGP each side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Inventory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20,424,776.50 EGP = quantity × cost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Receivables / payables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split by partner, matched to the aging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9A"/>
                </a:solidFill>
              </a:rPr>
              <a:t>Clearing account 190100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zero after the opening entry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Who can do what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30 users in 19 access profiles, with the requester and the approver never being the same person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Segregation of duties</a:t>
            </a:r>
            <a:endParaRPr lang="en-US" sz="1600" dirty="0"/>
          </a:p>
        </p:txBody>
      </p:sp>
      <p:sp>
        <p:nvSpPr>
          <p:cNvPr id="5" name="card83"/>
          <p:cNvSpPr/>
          <p:nvPr/>
        </p:nvSpPr>
        <p:spPr>
          <a:xfrm>
            <a:off x="548640" y="210312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Purchase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240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Buyer creates the order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240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Procurement Manager approves above 250,000 EGP</a:t>
            </a:r>
            <a:endParaRPr lang="en-US" sz="1200" dirty="0"/>
          </a:p>
        </p:txBody>
      </p:sp>
      <p:sp>
        <p:nvSpPr>
          <p:cNvPr id="9" name="card84"/>
          <p:cNvSpPr/>
          <p:nvPr/>
        </p:nvSpPr>
        <p:spPr>
          <a:xfrm>
            <a:off x="548640" y="276148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Payment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898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Treasurer prepares the payment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898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Finance Manager posts above 500,000 EGP</a:t>
            </a:r>
            <a:endParaRPr lang="en-US" sz="1200" dirty="0"/>
          </a:p>
        </p:txBody>
      </p:sp>
      <p:sp>
        <p:nvSpPr>
          <p:cNvPr id="13" name="card85"/>
          <p:cNvSpPr/>
          <p:nvPr/>
        </p:nvSpPr>
        <p:spPr>
          <a:xfrm>
            <a:off x="548640" y="3419856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570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Journal entry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5570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Accountant prepares the draft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5570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Finance Manager posts and sets the lock date</a:t>
            </a:r>
            <a:endParaRPr lang="en-US" sz="1200" dirty="0"/>
          </a:p>
        </p:txBody>
      </p:sp>
      <p:sp>
        <p:nvSpPr>
          <p:cNvPr id="17" name="card86"/>
          <p:cNvSpPr/>
          <p:nvPr/>
        </p:nvSpPr>
        <p:spPr>
          <a:xfrm>
            <a:off x="548640" y="4078224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153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Stock count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215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Keeper counts the location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4215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Warehouse Manager applies the adjustment</a:t>
            </a:r>
            <a:endParaRPr lang="en-US" sz="1200" dirty="0"/>
          </a:p>
        </p:txBody>
      </p:sp>
      <p:sp>
        <p:nvSpPr>
          <p:cNvPr id="21" name="card87"/>
          <p:cNvSpPr/>
          <p:nvPr/>
        </p:nvSpPr>
        <p:spPr>
          <a:xfrm>
            <a:off x="548640" y="4736592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73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POS refund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4873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Cashier sells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4873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Showroom Supervisor refunds</a:t>
            </a:r>
            <a:endParaRPr lang="en-US" sz="1200" dirty="0"/>
          </a:p>
        </p:txBody>
      </p:sp>
      <p:sp>
        <p:nvSpPr>
          <p:cNvPr id="25" name="card88"/>
          <p:cNvSpPr/>
          <p:nvPr/>
        </p:nvSpPr>
        <p:spPr>
          <a:xfrm>
            <a:off x="8503920" y="2103120"/>
            <a:ext cx="3108960" cy="3438144"/>
          </a:xfrm>
          <a:prstGeom prst="roundRect">
            <a:avLst>
              <a:gd name="adj" fmla="val 235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Also controlled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265176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Sales reps see only their own documents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Chart of accounts, price lists and lock dates limited to named roles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Chatter records who changed what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Employee data handled under Law No. 151 of 2020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Joiner, mover and leaver procedure with quarterly review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</a:rPr>
              <a:t>Part 05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Testing, training and go-live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914400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E2"/>
                </a:solidFill>
              </a:rPr>
              <a:t>Proving the system works, teaching the people, and switching over on the first day of the fiscal year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From UAT to go-live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Two test cycles, ten training sessions and a cutover with a validation pack and a rollback plan</a:t>
            </a:r>
            <a:endParaRPr lang="en-US" sz="1400" dirty="0"/>
          </a:p>
        </p:txBody>
      </p:sp>
      <p:sp>
        <p:nvSpPr>
          <p:cNvPr id="4" name="card89"/>
          <p:cNvSpPr/>
          <p:nvPr/>
        </p:nvSpPr>
        <p:spPr>
          <a:xfrm>
            <a:off x="54864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25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UAT scenarios</a:t>
            </a:r>
            <a:endParaRPr lang="en-US" sz="1200" dirty="0"/>
          </a:p>
        </p:txBody>
      </p:sp>
      <p:sp>
        <p:nvSpPr>
          <p:cNvPr id="7" name="card90"/>
          <p:cNvSpPr/>
          <p:nvPr/>
        </p:nvSpPr>
        <p:spPr>
          <a:xfrm>
            <a:off x="246888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70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requirements covered</a:t>
            </a:r>
            <a:endParaRPr lang="en-US" sz="1200" dirty="0"/>
          </a:p>
        </p:txBody>
      </p:sp>
      <p:sp>
        <p:nvSpPr>
          <p:cNvPr id="10" name="card91"/>
          <p:cNvSpPr/>
          <p:nvPr/>
        </p:nvSpPr>
        <p:spPr>
          <a:xfrm>
            <a:off x="438912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training sessions</a:t>
            </a:r>
            <a:endParaRPr lang="en-US" sz="1200" dirty="0"/>
          </a:p>
        </p:txBody>
      </p:sp>
      <p:sp>
        <p:nvSpPr>
          <p:cNvPr id="13" name="card92"/>
          <p:cNvSpPr/>
          <p:nvPr/>
        </p:nvSpPr>
        <p:spPr>
          <a:xfrm>
            <a:off x="630936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36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hours of material</a:t>
            </a:r>
            <a:endParaRPr lang="en-US" sz="1200" dirty="0"/>
          </a:p>
        </p:txBody>
      </p:sp>
      <p:sp>
        <p:nvSpPr>
          <p:cNvPr id="16" name="card93"/>
          <p:cNvSpPr/>
          <p:nvPr/>
        </p:nvSpPr>
        <p:spPr>
          <a:xfrm>
            <a:off x="822960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14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validation checks</a:t>
            </a:r>
            <a:endParaRPr lang="en-US" sz="1200" dirty="0"/>
          </a:p>
        </p:txBody>
      </p:sp>
      <p:sp>
        <p:nvSpPr>
          <p:cNvPr id="19" name="card94"/>
          <p:cNvSpPr/>
          <p:nvPr/>
        </p:nvSpPr>
        <p:spPr>
          <a:xfrm>
            <a:off x="10149840" y="1691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9556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A3F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259568" y="24414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weeks hypercare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</a:rPr>
              <a:t>Cutover</a:t>
            </a:r>
            <a:endParaRPr lang="en-US" sz="1600" dirty="0"/>
          </a:p>
        </p:txBody>
      </p:sp>
      <p:sp>
        <p:nvSpPr>
          <p:cNvPr id="23" name="card95"/>
          <p:cNvSpPr/>
          <p:nvPr/>
        </p:nvSpPr>
        <p:spPr>
          <a:xfrm>
            <a:off x="548640" y="3794760"/>
            <a:ext cx="7680960" cy="493776"/>
          </a:xfrm>
          <a:prstGeom prst="roundRect">
            <a:avLst>
              <a:gd name="adj" fmla="val 1481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895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28-29 Dec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389534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Master data frozen and imported into production; every key user verifies their own data</a:t>
            </a:r>
            <a:endParaRPr lang="en-US" sz="1200" dirty="0"/>
          </a:p>
        </p:txBody>
      </p:sp>
      <p:sp>
        <p:nvSpPr>
          <p:cNvPr id="26" name="card96"/>
          <p:cNvSpPr/>
          <p:nvPr/>
        </p:nvSpPr>
        <p:spPr>
          <a:xfrm>
            <a:off x="548640" y="4361688"/>
            <a:ext cx="7680960" cy="493776"/>
          </a:xfrm>
          <a:prstGeom prst="roundRect">
            <a:avLst>
              <a:gd name="adj" fmla="val 1481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462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30-31 Dec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240280" y="4462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Full stock count in all five warehouses and the showroom; legacy system closed for posting</a:t>
            </a:r>
            <a:endParaRPr lang="en-US" sz="1200" dirty="0"/>
          </a:p>
        </p:txBody>
      </p:sp>
      <p:sp>
        <p:nvSpPr>
          <p:cNvPr id="29" name="card97"/>
          <p:cNvSpPr/>
          <p:nvPr/>
        </p:nvSpPr>
        <p:spPr>
          <a:xfrm>
            <a:off x="548640" y="4928616"/>
            <a:ext cx="7680960" cy="493776"/>
          </a:xfrm>
          <a:prstGeom prst="roundRect">
            <a:avLst>
              <a:gd name="adj" fmla="val 14815"/>
            </a:avLst>
          </a:prstGeom>
          <a:solidFill>
            <a:srgbClr val="FBEDE3"/>
          </a:solidFill>
          <a:ln w="12700">
            <a:solidFill>
              <a:srgbClr val="FB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029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3F"/>
                </a:solidFill>
              </a:rPr>
              <a:t>1 Jan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50292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Opening stock and opening entry posted, validation pack run, go / no-go meeting with the sponsor</a:t>
            </a:r>
            <a:endParaRPr lang="en-US" sz="1200" dirty="0"/>
          </a:p>
        </p:txBody>
      </p:sp>
      <p:sp>
        <p:nvSpPr>
          <p:cNvPr id="32" name="card98"/>
          <p:cNvSpPr/>
          <p:nvPr/>
        </p:nvSpPr>
        <p:spPr>
          <a:xfrm>
            <a:off x="548640" y="5495544"/>
            <a:ext cx="7680960" cy="493776"/>
          </a:xfrm>
          <a:prstGeom prst="roundRect">
            <a:avLst>
              <a:gd name="adj" fmla="val 14815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96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9A"/>
                </a:solidFill>
              </a:rPr>
              <a:t>3 Jan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240280" y="55961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First working day: first POS session, first delivery and first invoice with a consultant watching</a:t>
            </a:r>
            <a:endParaRPr lang="en-US" sz="1200" dirty="0"/>
          </a:p>
        </p:txBody>
      </p:sp>
      <p:sp>
        <p:nvSpPr>
          <p:cNvPr id="35" name="card99"/>
          <p:cNvSpPr/>
          <p:nvPr/>
        </p:nvSpPr>
        <p:spPr>
          <a:xfrm>
            <a:off x="8503920" y="338328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73252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If something goes wrong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39319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Backup before every import step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Files re-importable by external ID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Opening entry can be reset and reposted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</a:rPr>
              <a:t>Legacy kept read-only for history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The investment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142 consultant days plus the Odoo subscription — payment released against seven signed milestones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>
            <p:ph idx="102" type="chart" hasCustomPrompt="1"/>
          </p:nvPr>
        </p:nvGraphicFramePr>
        <p:xfrm>
          <a:off x="548640" y="164592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100"/>
          <p:cNvSpPr/>
          <p:nvPr/>
        </p:nvSpPr>
        <p:spPr>
          <a:xfrm>
            <a:off x="7315200" y="173736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</a:rPr>
              <a:t>What drives the price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860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142 days across 8 phases, including 15 days of customization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30 users on the Odoo Custom plan (Studio is required)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E"/>
                </a:solidFill>
              </a:rPr>
              <a:t>10% risk contingency, VAT excluded</a:t>
            </a:r>
            <a:endParaRPr lang="en-US" sz="1200" dirty="0"/>
          </a:p>
        </p:txBody>
      </p:sp>
      <p:sp>
        <p:nvSpPr>
          <p:cNvPr id="8" name="card101"/>
          <p:cNvSpPr/>
          <p:nvPr/>
        </p:nvSpPr>
        <p:spPr>
          <a:xfrm>
            <a:off x="7315200" y="402336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12700" dir="5400000">
              <a:srgbClr val="C8D4D9">
                <a:alpha val="5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58952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</a:rPr>
              <a:t>Payment milestones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526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E"/>
                </a:solidFill>
              </a:rPr>
              <a:t>20% kick-off · 15% BRD · 15% design · 20% build · 15% UAT · 10% go-live · 5% hypercare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5257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2"/>
                </a:solidFill>
              </a:rPr>
              <a:t>Figures are project assumptions; the cost model recalculates from the day rate and user count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5F"/>
                </a:solidFill>
              </a:rPr>
              <a:t>What we learned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72"/>
                </a:solidFill>
              </a:rPr>
              <a:t>The decisions that made the biggest difference on this project</a:t>
            </a:r>
            <a:endParaRPr lang="en-US" sz="1400" dirty="0"/>
          </a:p>
        </p:txBody>
      </p:sp>
      <p:sp>
        <p:nvSpPr>
          <p:cNvPr id="4" name="card10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5" name="ln0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019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Data before configuration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90195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Building the 27 import files first exposed the real problems early: a chart of accounts with 17 duplicates, an inventory balance that did not match the products, and currencies locked on the wrong accounts</a:t>
            </a:r>
            <a:endParaRPr lang="en-US" sz="1200" dirty="0"/>
          </a:p>
        </p:txBody>
      </p:sp>
      <p:sp>
        <p:nvSpPr>
          <p:cNvPr id="9" name="card103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0" name="ln1"/>
          <p:cNvSpPr/>
          <p:nvPr/>
        </p:nvSpPr>
        <p:spPr>
          <a:xfrm>
            <a:off x="822960" y="3246120"/>
            <a:ext cx="411480" cy="4114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906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Standard first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09067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Every requirement was tested against standard Odoo before anyone opened Studio, which is why only 16% needed customization</a:t>
            </a:r>
            <a:endParaRPr lang="en-US" sz="1200" dirty="0"/>
          </a:p>
        </p:txBody>
      </p:sp>
      <p:sp>
        <p:nvSpPr>
          <p:cNvPr id="14" name="card104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5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15" name="ln2"/>
          <p:cNvSpPr/>
          <p:nvPr/>
        </p:nvSpPr>
        <p:spPr>
          <a:xfrm>
            <a:off x="822960" y="4434840"/>
            <a:ext cx="411480" cy="4114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793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One owner per module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427939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Each of us owned a module end to end — design, configuration, testing and the user guide — so nothing fell between people</a:t>
            </a:r>
            <a:endParaRPr lang="en-US" sz="1200" dirty="0"/>
          </a:p>
        </p:txBody>
      </p:sp>
      <p:sp>
        <p:nvSpPr>
          <p:cNvPr id="19" name="card105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</p:spPr>
      </p:sp>
      <p:sp>
        <p:nvSpPr>
          <p:cNvPr id="20" name="ln3"/>
          <p:cNvSpPr/>
          <p:nvPr/>
        </p:nvSpPr>
        <p:spPr>
          <a:xfrm>
            <a:off x="822960" y="5623560"/>
            <a:ext cx="411480" cy="41148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681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5F"/>
                </a:solidFill>
              </a:rPr>
              <a:t>Traceability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546811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</a:rPr>
              <a:t>A pain point becomes a requirement, a requirement becomes a design section and a test case; at any moment we can show why a setting exists</a:t>
            </a:r>
            <a:endParaRPr lang="en-US" sz="1200" dirty="0"/>
          </a:p>
        </p:txBody>
      </p:sp>
      <p:sp>
        <p:nvSpPr>
          <p:cNvPr id="24" name="card106"/>
          <p:cNvSpPr/>
          <p:nvPr/>
        </p:nvSpPr>
        <p:spPr>
          <a:xfrm>
            <a:off x="548640" y="649224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" y="34747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E2"/>
                </a:solidFill>
              </a:rPr>
              <a:t>Live demo: lead → quotation → import with landed costs → fan assembly → showroom sale → financial statements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7DBE2"/>
                </a:solidFill>
              </a:rPr>
              <a:t>Repository: 4 folders · 10 project documents · 3 entity-data workbooks · 27 import files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3F"/>
                </a:solidFill>
              </a:rPr>
              <a:t>70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BE2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3F"/>
                </a:solidFill>
              </a:rPr>
              <a:t>89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BE2"/>
                </a:solidFill>
              </a:rPr>
              <a:t>products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3F"/>
                </a:solidFill>
              </a:rPr>
              <a:t>27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BE2"/>
                </a:solidFill>
              </a:rPr>
              <a:t>import files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3F"/>
                </a:solidFill>
              </a:rPr>
              <a:t>1 Jan 2027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BE2"/>
                </a:solidFill>
              </a:rPr>
              <a:t>go-live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2"/>
                </a:solidFill>
              </a:rPr>
              <a:t>Khomasi ERP  ·  Ahmed Fahmy · Lobna Zanaty · Mayada Salah · Noha Gamal · Omar ElSayed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homasi ERP - Smart Core">
  <a:themeElements>
    <a:clrScheme name="Khomasi ERP - Smart Core">
      <a:dk1>
        <a:srgbClr val="16262E"/>
      </a:dk1>
      <a:lt1>
        <a:srgbClr val="FFFFFF"/>
      </a:lt1>
      <a:dk2>
        <a:srgbClr val="1F4E5F"/>
      </a:dk2>
      <a:lt2>
        <a:srgbClr val="EEF3F5"/>
      </a:lt2>
      <a:accent1>
        <a:srgbClr val="1F4E5F"/>
      </a:accent1>
      <a:accent2>
        <a:srgbClr val="2E8B9A"/>
      </a:accent2>
      <a:accent3>
        <a:srgbClr val="E07A3F"/>
      </a:accent3>
      <a:accent4>
        <a:srgbClr val="7FA8B5"/>
      </a:accent4>
      <a:accent5>
        <a:srgbClr val="4C6B74"/>
      </a:accent5>
      <a:accent6>
        <a:srgbClr val="C9A227"/>
      </a:accent6>
      <a:hlink>
        <a:srgbClr val="2E8B9A"/>
      </a:hlink>
      <a:folHlink>
        <a:srgbClr val="7FA8B5"/>
      </a:folHlink>
    </a:clrScheme>
    <a:fontScheme name="Khomasi ERP - Smart Co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Khomasi ERP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Core - Beitak Smart Odoo ERP Implementation</dc:title>
  <dc:subject>PptxGenJS Presentation</dc:subject>
  <dc:creator>Khomasi ERP</dc:creator>
  <cp:lastModifiedBy>Khomasi ERP</cp:lastModifiedBy>
  <cp:revision>1</cp:revision>
  <dcterms:created xsi:type="dcterms:W3CDTF">2026-10-26T11:38:22Z</dcterms:created>
  <dcterms:modified xsi:type="dcterms:W3CDTF">2026-10-26T11:38:22Z</dcterms:modified>
</cp:coreProperties>
</file>